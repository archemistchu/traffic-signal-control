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Multi-Agent Reinforcement Learning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for Adaptive Traffic Signal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2200" b="0">
                <a:solidFill>
                  <a:srgbClr val="00D2FF"/>
                </a:solidFill>
                <a:latin typeface="Calibri"/>
              </a:defRPr>
            </a:pPr>
            <a:r>
              <a:t>A Parameter-Sharing DQN Approach on Real-World Urban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Final Year Project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Department of Computer Science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◆  1.  Problem Analysis — Why Traffic Signal Control Matters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◆  2.  Existing Solutions — Traditional &amp; Baseline Approaches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◆  3.  System Architecture — Tools, Framework &amp; Hierarchy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◆  4.  Algorithm Design — Dueling Double DQN with MARL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◆  5.  Methodology — Training Pipeline &amp; Reward Engineering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◆  6.  Results — Experiments, Metrics &amp; Findings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◆  7.  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Urban Traffic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Urban traffic congestion costs the global economy over $1 trillion annually in lost productivity, fuel waste, and emissions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Traffic signals control ~75% of urban intersections, yet most run on fixed-time plans designed decades ago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Traditional signal timing cannot adapt to real-time demand fluctuations (rush hour, accidents, events)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Coordinating hundreds of intersections simultaneously is a combinatorial optimization problem — intractable for classical methods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Reinforcement Learning offers a data-driven approach: agents learn optimal policies through direct interaction with the environment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Challenge: Scaling single-agent RL to city-wide networks with 50–200+ traffic lights requires multi-agent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Traditional Traffic Control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Fixed-Time Control — Pre-computed green/red splits based on historical data; cannot adapt to real-time demand changes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Actuated Control — Extends green phases based on detector input (e.g., induction loops); reactive but lacks coordination across intersections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SCOOT / SCATS — Centralized adaptive systems that adjust splits and offsets using detector data; require expensive infrastructure and are proprietary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Green Wave / Offset Optimization — Coordinates adjacent signals for arterial progression; only effective on linear corridors, fails in grid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500" b="1">
                <a:solidFill>
                  <a:srgbClr val="FFD93D"/>
                </a:solidFill>
                <a:latin typeface="Calibri"/>
              </a:defRPr>
            </a:pPr>
            <a:r>
              <a:t>Common Limitation: These methods optimize locally or require global knowledge — they struggle with the curse of dimensionality in large, heterogeneous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Reinforcement Learning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Single-Agent RL (e.g., IntelliLight) — One DQN per intersection; does not scale to city-wide networks and ignores inter-intersection effects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Independent Multi-Agent RL — Each intersection has its own agent; scalable but agents cannot coordinate, leading to oscillation and instability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Centralized Training, Decentralized Execution (CTDE) — Training uses global state, execution is local; communication overhead is prohibitive for 50+ agents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Parameter Sharing (Our Approach) — All agents share one neural network; scales to any number of intersections with constant model size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Graph-based Methods (e.g., CoLight) — Use graph attention networks to model intersection topology; powerful but computationally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Baseline Strategies Used in This Project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Fixed-Time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Cycles through phases with constant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green durations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Cannot adapt to real-time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demand fluctuations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Max Pressure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Selects phase with highest upstream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queue pressure across all candidates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Greedy; no lookahead,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can oscillate rapidly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SOTL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Threshold-based: switches when competing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phase demand exceeds threshold θ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Sensitive to threshold tuning;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 inter-intersection coordination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Adaptive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Pressure-aware extension with hysteresis,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phase skipping to highest-demand phase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Strong but hand-tuned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parameters per network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GA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Offline evolutionary search over base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green time and pressure scale (6 pop × 3 gen)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Slow; cannot adapt once</a:t>
                      </a:r>
                    </a:p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traffic shifts mid-episode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Baselines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Establishing a fair performance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All baselines control the same subset of traffic lights under identical demand and episode length (1,200 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SUMO's built-in actuated controller handles uncontrolled lights — this is not a trivial "do-nothing" default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The Adaptive baseline is surprisingly strong: pressure-aware extension + phase skipping makes it hard to beat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MaxPressure is the theoretical gold standard for throughput in queuing networks (Varaiya, 2013)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GA provides an offline evolutionary optimisation benchmark — amortised search cost, O(1) per decision at runtime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Experiment 1: 120 episodes per strategy | Experiment 2: 30 episodes, shared seed for paired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02920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00D2FF"/>
                </a:solidFill>
                <a:latin typeface="Calibri"/>
              </a:defRPr>
            </a:pPr>
            <a:r>
              <a:t>SUMO 1.25.0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Microscopic traffic simulator with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real-world OSM network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502920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73152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00D2FF"/>
                </a:solidFill>
                <a:latin typeface="Calibri"/>
              </a:defRPr>
            </a:pPr>
            <a:r>
              <a:t>TraCI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Traffic Control Interface — Python API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for real-time signal manipulation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23360"/>
            <a:ext cx="502920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73152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00D2FF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Deep learning framework for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DQN training and inference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57800"/>
            <a:ext cx="502920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257800"/>
            <a:ext cx="73152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30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00D2FF"/>
                </a:solidFill>
                <a:latin typeface="Calibri"/>
              </a:defRPr>
            </a:pPr>
            <a:r>
              <a:t>Python 3.10+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Core language with NumPy,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Flask (web dashboard)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502920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73152" cy="10515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4ECB71"/>
                </a:solidFill>
                <a:latin typeface="Calibri"/>
              </a:defRPr>
            </a:pPr>
            <a:r>
              <a:t>OpenStreetMap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659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Real-world network topology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and traffic demand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788920"/>
            <a:ext cx="502920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788920"/>
            <a:ext cx="73152" cy="10515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862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4ECB71"/>
                </a:solidFill>
                <a:latin typeface="Calibri"/>
              </a:defRPr>
            </a:pPr>
            <a:r>
              <a:t>Flask + Leaflet.js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Web-based visualization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dashboard for live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23360"/>
            <a:ext cx="502920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73152" cy="10515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4ECB71"/>
                </a:solidFill>
                <a:latin typeface="Calibri"/>
              </a:defRPr>
            </a:pPr>
            <a:r>
              <a:t>TensorBoard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348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Training metric logging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and visualization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257800"/>
            <a:ext cx="502920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5257800"/>
            <a:ext cx="73152" cy="10515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330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4ECB71"/>
                </a:solidFill>
                <a:latin typeface="Calibri"/>
              </a:defRPr>
            </a:pPr>
            <a:r>
              <a:t>Git +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692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Version control and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collaboration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Layered architecture from simulation to decision-making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1832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91440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FF6B6B"/>
                </a:solidFill>
                <a:latin typeface="Calibri"/>
              </a:defRPr>
            </a:pPr>
            <a:r>
              <a:t>SUMO Simulation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74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Microscopic vehicle movement, lane dynamics, traffic light physics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560320"/>
            <a:ext cx="91440" cy="9144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FFD93D"/>
                </a:solidFill>
                <a:latin typeface="Calibri"/>
              </a:defRPr>
            </a:pPr>
            <a:r>
              <a:t>TraCI Communication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71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Real-time bidirectional data exchange: observations ↔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3657600"/>
            <a:ext cx="91440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703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4ECB71"/>
                </a:solidFill>
                <a:latin typeface="Calibri"/>
              </a:defRPr>
            </a:pPr>
            <a:r>
              <a:t>Traffic Simulator Wrapper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0690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State collection, baseline strategies, metric calculation, demand 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4754880"/>
            <a:ext cx="9144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800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00D2FF"/>
                </a:solidFill>
                <a:latin typeface="Calibri"/>
              </a:defRPr>
            </a:pPr>
            <a:r>
              <a:t>MARL Training /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66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Shared DQN agent, reward computation, experience replay, curriculum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377440"/>
            <a:ext cx="36576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3474720"/>
            <a:ext cx="36576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4572000"/>
            <a:ext cx="36576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Multi-Agent Parameter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One network controls all traffic 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All N traffic light agents share a single DQN — model size is O(1), not O(N)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Each agent receives a LOCAL observation: lane queues, speeds, vehicle counts, phase info for its own intersection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Actions are executed independently per intersection — fully decentralized execution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Experience from ALL intersections feeds into ONE shared replay buffer — massive data efficiency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Curriculum learning: start controlling 25% of lights, gradually increase to target ratio (50%)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This approach handles networks of any size without retraining — demonstrated on Cologne (79 TLS)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303520"/>
            <a:ext cx="64008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539496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500" b="1">
                <a:solidFill>
                  <a:srgbClr val="FFD93D"/>
                </a:solidFill>
                <a:latin typeface="Calibri"/>
              </a:defRPr>
            </a:pPr>
            <a:r>
              <a:t>Key Insight: Parameter sharing transforms a 40-agent problem into a single-agent problem with 40× more training data per episode.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Deep Q-Network (DQN)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Q-Learning: Learn Q(s,a) — the expected cumulative reward for taking action a in state 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Deep Q-Network: Approximate Q(s,a) with a neural network parameterized by θ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Target network (θ⁻) updated via hard copy every C = 2,000 gradient steps to stabilize training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Experience Replay: Store transitions (s, a, r, s') in a buffer, sample mini-batches to break correlation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ε-greedy exploration: Start with random actions (ε=1.0), linearly decay to ε=0.05 over training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Loss function: Smooth L1 (Huber) loss between predicted Q and target Q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120640"/>
            <a:ext cx="758952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516636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00D2FF"/>
                </a:solidFill>
                <a:latin typeface="Consolas"/>
              </a:defRPr>
            </a:pPr>
            <a:r>
              <a:t>Q-target = r + γⁿ · Q_target(s', argmax_a Q_online(s', a))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00D2FF"/>
                </a:solidFill>
                <a:latin typeface="Consolas"/>
              </a:defRPr>
            </a:pPr>
            <a:r>
              <a:t>Loss = SmoothL1( Q_online(s, a) − Q-target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DQN Enhancements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" cy="8229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Double DQN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Action selection from online network, value from target network — eliminates overestimation bias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1088136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73152" cy="8229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4ECB71"/>
                </a:solidFill>
                <a:latin typeface="Calibri"/>
              </a:defRPr>
            </a:pPr>
            <a:r>
              <a:t>Dueling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Separates Q into V(s) + A(s,a) streams — learns state values independently of action advantages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1088136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73152" cy="82296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FFD93D"/>
                </a:solidFill>
                <a:latin typeface="Calibri"/>
              </a:defRPr>
            </a:pPr>
            <a:r>
              <a:t>Prioritized Experience Replay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Samples transitions proportional to |TD error|^α — focuses learning on surprising experiences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43400"/>
            <a:ext cx="1088136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343400"/>
            <a:ext cx="73152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N-step Returns (n=3)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Bootstrap from 3 steps ahead: r₁ + γr₂ + γ²r₃ + γ³V(s₃) — faster credit 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303520"/>
            <a:ext cx="731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Action Masking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Prevents invalid switches before min_green_seconds (10s) — reduces wasted exploration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Neural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Dueling DQN with LayerNorm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463040"/>
            <a:ext cx="923544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Input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8132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State vector: 12 lanes × 3 features + 16-dim phase one-hot + time + 4 pressure features = 57 dims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286000"/>
            <a:ext cx="923544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Hidden 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0428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256 neurons → LayerNorm → ReLU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926080"/>
            <a:ext cx="923544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Hidden 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443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256 neurons → LayerNorm → ReLU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923544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584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Hidden 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844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128 neurons → LayerNorm → ReLU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389120"/>
            <a:ext cx="923544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407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Value 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074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128 → 1   (state value V(s))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5029200"/>
            <a:ext cx="923544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5047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Advantage 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04748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128 → 2   (action advantages A(s,a))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5760720"/>
            <a:ext cx="923544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779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7790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Q(s,a) = V(s) + A(s,a) − mean(A)   →   2 actions: KEEP / 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MDP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State space, action space, and reward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D2FF"/>
                </a:solidFill>
                <a:latin typeface="Calibri"/>
              </a:defRPr>
            </a:pPr>
            <a:r>
              <a:t>State Space (per intersection):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Vehicle counts per lane (normalized by 20)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Queue lengths per lane (normalized by 15)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Mean speeds per lane (normalized by 20)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Current phase (16-dim one-hot encoding)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Remaining green time (normalized by 60s)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Pressure features: current/next pressure,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  pressure delta, total queue (4 dims)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700" b="1">
                <a:solidFill>
                  <a:srgbClr val="00D2FF"/>
                </a:solidFill>
                <a:latin typeface="Calibri"/>
              </a:defRPr>
            </a:pPr>
            <a:r>
              <a:t>Action Space: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Action 0: KEEP current phase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Action 1: SWITCH to next green phase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Action masking: block switches before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▸    minimum green time (10 seconds)</a:t>
            </a:r>
          </a:p>
          <a:p>
            <a:pPr>
              <a:spcAft>
                <a:spcPts val="80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303520" cy="3200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700" b="1">
                <a:solidFill>
                  <a:srgbClr val="00D2FF"/>
                </a:solidFill>
                <a:latin typeface="Calibri"/>
              </a:defRPr>
            </a:pPr>
            <a:r>
              <a:t>Reward Function: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FFD93D"/>
                </a:solidFill>
                <a:latin typeface="Consolas"/>
              </a:defRPr>
            </a:pPr>
            <a:r>
              <a:t>r_wait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= −0.50 × clip(total_wait / scale, 0,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Penalize waiting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FFD93D"/>
                </a:solidFill>
                <a:latin typeface="Consolas"/>
              </a:defRPr>
            </a:pPr>
            <a:r>
              <a:t>r_queue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= +0.35 × clip(Δqueue / scale, −1,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Reward queue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FFD93D"/>
                </a:solidFill>
                <a:latin typeface="Consolas"/>
              </a:defRPr>
            </a:pPr>
            <a:r>
              <a:t>r_switch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= −0.01  (if action = SWITCH)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Small switch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1">
                <a:solidFill>
                  <a:srgbClr val="FFD93D"/>
                </a:solidFill>
                <a:latin typeface="Consolas"/>
              </a:defRPr>
            </a:pPr>
            <a:r>
              <a:t>R(s,a)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= r_wait + r_queue + r_switch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Total 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Episode-based training with curriculum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74720" cy="2103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Initialize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Load OSM network, create SUMO instance,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select controlled TLS subset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19" y="1463040"/>
            <a:ext cx="3474720" cy="2103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79" y="160020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Curriculum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Start at 25% control ratio, linearly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ramp to 50% over first 100 episodes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1463040"/>
            <a:ext cx="3474720" cy="2103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18" y="160020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8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Simulate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Step SUMO, collect per-TLS observations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every decision-interval (5-10s)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3474720" cy="2103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ε-greedy action selection with masking;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apply setPhaseDuration via TraCI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19" y="3931920"/>
            <a:ext cx="3474720" cy="2103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79" y="406908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Store in PER buffer, sample batch of 128,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compute n-step TD targets, backprop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8" y="3931920"/>
            <a:ext cx="3474720" cy="2103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5318" y="406908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8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78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Adapt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Cosine LR schedule, plateau recovery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(boost ε if reward stagnates)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Hyperparameters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3327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Learning Rate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5×10⁻⁵ → 1×10⁻⁵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Cosine annealing schedule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Discount Factor (γ)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High for long-horizon planning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N-step Returns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 = 3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Faster credit assignment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Mini-batch from PER buffer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Replay Buffer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200,000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PER: α=0.6, β: 0.4→1.0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Target Update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Hard copy every C=2,000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Prevents moving-target instability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ε Schedule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1.0 → 0.05 (linear)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Plateau recovery boosts ε if stalled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Hidden Layers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[256, 256, 128] + LayerNorm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Dueling streams after layer 3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Decision Interval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Exp 1: 5 s | Exp 2 MARL: 10 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Longer step cuts yellow share of RL window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Min Green Time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 seconds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Action mask enforced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Curriculum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25% → 50% over 100 eps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Gradual intersection ramp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16/26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Dataset: Cologne, Germany (OpenStreetMap)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Real-world urban network from the Cologne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0292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Road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194 km total road length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50292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Edges / Lanes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3,070 edges, 5,618 lanes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50292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4904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Junctions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2,512 total (79 signalized)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46320"/>
            <a:ext cx="50292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19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Avg Speed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11.2 m/s (40 km/h)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50292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73152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4ECB71"/>
                </a:solidFill>
                <a:latin typeface="Calibri"/>
              </a:defRPr>
            </a:pPr>
            <a:r>
              <a:t>Passenger Trips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9,537 vehicles in scenario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0292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73152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4ECB71"/>
                </a:solidFill>
                <a:latin typeface="Calibri"/>
              </a:defRPr>
            </a:pPr>
            <a:r>
              <a:t>Truck Trips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638 heavy vehicles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49040"/>
            <a:ext cx="50292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749040"/>
            <a:ext cx="73152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822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4ECB71"/>
                </a:solidFill>
                <a:latin typeface="Calibri"/>
              </a:defRPr>
            </a:pPr>
            <a:r>
              <a:t>Bus Routes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41 public transport lines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46320"/>
            <a:ext cx="50292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73152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919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4ECB71"/>
                </a:solidFill>
                <a:latin typeface="Calibri"/>
              </a:defRPr>
            </a:pPr>
            <a:r>
              <a:t>Pedestrians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4,402 pedestrian trips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Episode duration: 1,200 s (20 min) | Demand: scale 0.7 (Exp 1) &amp; 0.85 (Exp 2) | Evaluation: 120 episodes (Exp 1), 30 paired-seed episodes (Exp 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Experiment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Two experiments probing different operating regimes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Experiment 1 — Moderate congestion: scale 0.7, ratio 0.5 (40/79 TLS), Δt = 5 s for all, 120 episodes, MARL v8 (K=20 lane padding)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Experiment 2 — Elevated congestion: scale 0.85, ratio 0.2 (16/79 TLS), 30 paired-seed episodes, MARL v16 (K=12, c_switch=0.01)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Exp 2 asymmetry: MARL uses Δt = 10 s so yellow clearance is ~30% of each window (vs ~60% at 5 s); baselines stay at 5 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Baselines: Fixed-Time, MaxPressure, SOTL, Adaptive, GA — all under identical conditions per experiment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Traffic metrics: avg waiting time, throughput (veh/hr), congestion index, avg queue length, avg speed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Environmental metrics: CO₂, NOₓ, PMₓ, fuel — plus CO₂ per arrived vehicle (Experiment 1)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Statistical analysis: mean ± std, 95% CI, Welch's t-test (Exp 1) / paired t-test (Exp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Experiment 1: Moderate Congestion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Scale 0.7 | 50% control (40/79 TLS) | Δt = 5 s | 120 episodes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Avg Wait (s)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Throughput (veh/hr)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Congest. Idx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Avg Speed (m/s)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SOTL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94.80 ± 1.20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759.0 ± 40.3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0.72 ± 0.02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0.63 ± 0.01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Adaptive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95.26 ± 1.20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762.2 ± 41.2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0.69 ± 0.02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0.63 ± 0.01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MARL DQN ★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95.34 ± 1.30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775.8 ± 40.1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0.64 ± 0.02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0.63 ± 0.01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MaxPressure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95.68 ± 1.25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773.9 ± 32.9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0.66 ± 0.02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0.63 ± 0.01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Fixed-Time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95.93 ± 1.21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692.4 ± 35.6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0.74 ± 0.01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0.61 ± 0.01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500" b="1">
                <a:solidFill>
                  <a:srgbClr val="4ECB71"/>
                </a:solidFill>
                <a:latin typeface="Calibri"/>
              </a:defRPr>
            </a:pPr>
            <a:r>
              <a:t>MARL leads: +12.0% throughput, −13.7% congestion, +29.6% throughput efficiency vs Fixed-Time.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500" b="1">
                <a:solidFill>
                  <a:srgbClr val="4ECB71"/>
                </a:solidFill>
                <a:latin typeface="Calibri"/>
              </a:defRPr>
            </a:pPr>
            <a:r>
              <a:t>Waiting time within 0.5 s of best (SOTL) — the 50% uncontrolled TLS dominate the network average.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Experiment 2: Elevated Congestion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Scale 0.85 | 20% control (16/79 TLS) | Δt = 10 s MARL, 5 s baselines | 30 paired episodes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Avg Wait (s)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Throughput (veh/ep)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Avg Speed (m/s)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  <a:latin typeface="Calibri"/>
                        </a:defRPr>
                      </a:pPr>
                      <a:r>
                        <a:t>Avg Queue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Adaptive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100.00 ± 1.00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219.9 ± 14.0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0.538 ± 0.008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2660 ± 14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MARL DQN ★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100.11 ± 0.96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218.6 ± 11.1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0.534 ± 0.008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2665 ± 10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MaxPressure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100.23 ± 1.08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218.2 ± 12.5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0.537 ± 0.009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2662 ± 13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GA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100.54 ± 1.12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212.9 ± 10.7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0.532 ± 0.007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2670 ± 9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Fixed-Time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100.75 ± 1.03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213.0 ± 11.6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0.534 ± 0.008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2670 ± 9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SOTL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100.86 ± 1.37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213.8 ± 12.7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0.533 ± 0.010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2670 ± 12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500" b="1">
                <a:solidFill>
                  <a:srgbClr val="FFD93D"/>
                </a:solidFill>
                <a:latin typeface="Calibri"/>
              </a:defRPr>
            </a:pPr>
            <a:r>
              <a:t>MARL places 2nd — only 0.11 s behind Adaptive — despite being trained at ratio 0.5 and evaluated at 0.2.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500" b="1">
                <a:solidFill>
                  <a:srgbClr val="FFD93D"/>
                </a:solidFill>
                <a:latin typeface="Calibri"/>
              </a:defRPr>
            </a:pPr>
            <a:r>
              <a:t>Full spread under 1 s: only 16/79 TLS controlled, leaving little leverage for any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Environmental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Emissions barely differ — but per-vehicle CO₂ tells a different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Total CO₂ nearly identical across all strategies: spread &lt; 0.2% in both experiments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Dominant factor is aggregate traffic volume and SUMO's HBEFA speed–acceleration model, not signal timing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The interesting metric is CO₂ per arrived vehicle (Experiment 1):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    MARL &amp; MaxPressure: 2.42 × 10⁷ mg — a 10.7% drop vs Fixed-Time (2.71 × 10⁷ mg)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    This is a throughput effect: higher throughput spreads the same emission budget over more completed trips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Signal control determines WHERE vehicles idle, not HOW MUCH they emit in total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Exp 2 even more compressed: total CO₂ ranges 7.110–7.122 × 10⁹ mg across all six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Findings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MARL learns a conservative policy: holds current phase unless pressure gap clearly justifies the yellow-time cost of switching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Experiment 1: MARL leads on throughput (+12.0%), congestion (−13.7%), and throughput efficiency (+29.6%) over Fixed-Time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Experiment 2: MARL places 2nd (0.11 s behind Adaptive) despite being trained at ratio 0.5 and evaluated at 0.2 — robust to distribution shift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Switch rate stabilises at ~15%, up from ~25% early in training — the agent identifies specific states where switching pays off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Parameter sharing: one small MLP controls 16–40 intersections with zero additional parameters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Adaptive baseline deserves credit — consistently 1st or 2nd, but requires hand-tuned parameters per network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Emissions: per-arrived-vehicle CO₂ drops 10.7% vs Fixed-Time (throughput effect, not cleaner driving)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&amp;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Δt vs yellow clearance: at 5 s steps, ~3 s yellow is most of the window—RL saw little benefit from switching; 10 s steps restored learning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Stabilisation suite required: removing any one of {hard target copy, Q-target clamp, gradient clip, LayerNorm} caused Q-value divergence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Reward engineering: iterated from 7-term to 3-term reward; simpler is better — dominant terms are waiting-time penalty and queue-reduction bonus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Partial control (20–50%) compresses all network-wide metrics — makes differences hard to see but reflects realistic deployment constraints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Unpaired seeds in Exp 1 (different base seed per strategy) weaken the comparison — Exp 2 fixes this with shared seed 500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Curriculum learning was essential: training on all 40 TLS from episode 1 produced noisy gradients and no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Full network control: Scale the controlled fraction toward 100% and measure whether MARL's advantage grows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Cross-city transfer: Test the Cologne-trained policy on Berlin, Los Angeles — if it fails, explore fine-tuning or meta-learning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Inter-agent communication: Add a message-passing mechanism (e.g., attention over neighbours) for corridor-level coordination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Policy-gradient methods: Replace DQN with PPO or SAC to enable continuous action spaces (directly setting green durations)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Richer action space: Allow direct phase selection (5–8 actions) instead of binary keep/switch for more targeted control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▸  Sim-to-real: Bridge the gap through domain randomisation or calibration against real detector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Reproducible MARL benchmarking framework: OSM import → SUMO simulation → DQN training → multi-strategy evaluation with emissions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Scalability under heterogeneous geometry: one DQN controls 16–40 intersections differing in lanes, phases, and connectivity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Comprehensive evaluation: 5 baselines + GA, 10 metrics, 2 congestion regimes, traffic + environmental analysis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Exp 1: +12% throughput, −13.7% congestion, +29.6% throughput efficiency vs Fixed-Time (120 episodes)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Exp 2: 2nd place (0.11 s behind Adaptive) despite training/eval distribution shift and Δt asymmetry (30 paired episodes)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▸  Interface lesson: match RL decision interval to signal yellow/all-red in SUMO—short Δt can dominate what the agent can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5303520"/>
            <a:ext cx="850392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53949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"The agent learns not just when to switch signals, but crucially, when not to —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00D2FF"/>
                </a:solidFill>
                <a:latin typeface="Calibri"/>
              </a:defRPr>
            </a:pPr>
            <a:r>
              <a:t>discovering that the cost of action often outweighs its benefit."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6771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10912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4800" b="1">
                <a:solidFill>
                  <a:srgbClr val="00D2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2400" b="0">
                <a:solidFill>
                  <a:srgbClr val="CCCCC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26/26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